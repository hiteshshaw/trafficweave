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a15689a0f6497e" /><Relationship Type="http://schemas.openxmlformats.org/officeDocument/2006/relationships/extended-properties" Target="/docProps/app.xml" Id="Rb817a0fbf2da453f" /><Relationship Type="http://schemas.openxmlformats.org/officeDocument/2006/relationships/officeDocument" Target="/ppt/presentation.xml" Id="Ra5bb7f05db9d49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2dfe1b2ea14efc"/>
  </p:sldMasterIdLst>
  <p:notesMasterIdLst>
    <p:notesMasterId xmlns:r="http://schemas.openxmlformats.org/officeDocument/2006/relationships" r:id="R8691b353a2b74bd5"/>
  </p:notesMasterIdLst>
  <p:sldIdLst>
    <p:sldId xmlns:r="http://schemas.openxmlformats.org/officeDocument/2006/relationships" id="256" r:id="R084604f51d4a461e"/>
    <p:sldId xmlns:r="http://schemas.openxmlformats.org/officeDocument/2006/relationships" id="257" r:id="R36269de32af647a0"/>
    <p:sldId xmlns:r="http://schemas.openxmlformats.org/officeDocument/2006/relationships" id="258" r:id="R65aa5d35f9b14a6e"/>
    <p:sldId xmlns:r="http://schemas.openxmlformats.org/officeDocument/2006/relationships" id="259" r:id="R393238b4b0624cdf"/>
    <p:sldId xmlns:r="http://schemas.openxmlformats.org/officeDocument/2006/relationships" id="260" r:id="R9c8bcf1951fa4100"/>
    <p:sldId xmlns:r="http://schemas.openxmlformats.org/officeDocument/2006/relationships" id="261" r:id="R522009292c59403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81034b66844eac" /><Relationship Type="http://schemas.openxmlformats.org/officeDocument/2006/relationships/slideMaster" Target="/ppt/slideMasters/slideMaster1.xml" Id="Re32dfe1b2ea14efc" /><Relationship Type="http://schemas.openxmlformats.org/officeDocument/2006/relationships/notesMaster" Target="/ppt/notesMasters/notesMaster1.xml" Id="R8691b353a2b74bd5" /><Relationship Type="http://schemas.openxmlformats.org/officeDocument/2006/relationships/presProps" Target="/ppt/presProps.xml" Id="R851bfeb9959448a1" /><Relationship Type="http://schemas.openxmlformats.org/officeDocument/2006/relationships/viewProps" Target="/ppt/viewProps.xml" Id="R15849fd530004d06" /><Relationship Type="http://schemas.openxmlformats.org/officeDocument/2006/relationships/tableStyles" Target="/ppt/tableStyles.xml" Id="R71066a2814214b14" /><Relationship Type="http://schemas.openxmlformats.org/officeDocument/2006/relationships/slide" Target="/ppt/slides/slide1.xml" Id="R084604f51d4a461e" /><Relationship Type="http://schemas.openxmlformats.org/officeDocument/2006/relationships/slide" Target="/ppt/slides/slide2.xml" Id="R36269de32af647a0" /><Relationship Type="http://schemas.openxmlformats.org/officeDocument/2006/relationships/slide" Target="/ppt/slides/slide3.xml" Id="R65aa5d35f9b14a6e" /><Relationship Type="http://schemas.openxmlformats.org/officeDocument/2006/relationships/slide" Target="/ppt/slides/slide4.xml" Id="R393238b4b0624cdf" /><Relationship Type="http://schemas.openxmlformats.org/officeDocument/2006/relationships/slide" Target="/ppt/slides/slide5.xml" Id="R9c8bcf1951fa4100" /><Relationship Type="http://schemas.openxmlformats.org/officeDocument/2006/relationships/slide" Target="/ppt/slides/slide6.xml" Id="R522009292c59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1ee737c88248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ad2a7a25d34fab" /><Relationship Type="http://schemas.openxmlformats.org/officeDocument/2006/relationships/notesMaster" Target="/ppt/notesMasters/notesMaster1.xml" Id="Rab56c89ab0bc4c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6641e5226b422a" /><Relationship Type="http://schemas.openxmlformats.org/officeDocument/2006/relationships/notesMaster" Target="/ppt/notesMasters/notesMaster1.xml" Id="R2dea1ac43edf4a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757827f5764eb4" /><Relationship Type="http://schemas.openxmlformats.org/officeDocument/2006/relationships/notesMaster" Target="/ppt/notesMasters/notesMaster1.xml" Id="Re7f95f31d7f643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340e29ff2841f9" /><Relationship Type="http://schemas.openxmlformats.org/officeDocument/2006/relationships/notesMaster" Target="/ppt/notesMasters/notesMaster1.xml" Id="R616353613c5849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e61ad02c2a465c" /><Relationship Type="http://schemas.openxmlformats.org/officeDocument/2006/relationships/notesMaster" Target="/ppt/notesMasters/notesMaster1.xml" Id="R8a1d3bc8847c4a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4c595abf2e4a40" /><Relationship Type="http://schemas.openxmlformats.org/officeDocument/2006/relationships/notesMaster" Target="/ppt/notesMasters/notesMaster1.xml" Id="R6a0ddc227ba94d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metadata transcribed from the user-provided SIH 2026 listing. Team ID and portal-registered team name were not supplied, so clear fill-in fields remain.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Content is based on the user-provided SIH Problem Statement 26137 description. “Near-optimal” is framed as the search goal; no performance results or guaranteed savings are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weighted objective is a proposed scalarization of the three goals in the SIH description; weights and feasibility penalties should be calibrated and reported. QPSO is quantum-inspired classical computation, not execution on quantum hardware. The technology labels reflect the supplied TrafficWeave codebase. QPSO source: Sun, Feng &amp; Xu (2004), https://doi.org/10.1109/CEC.2004.1330875.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Feasibility and risk mitigations are proposed implementation and evaluation practices. They are not claims of field validation.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Impact statements are intended benefits and evaluation goals. No measured reductions in travel time, distance, congestion or cost are asserted.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References: Sun, J., Feng, B. &amp; Xu, W. (2004), “Particle swarm optimization with particles having quantum behavior,” Proceedings of CEC 2004, pp. 325–331, https://doi.org/10.1109/CEC.2004.1330875. Dantzig, G. B. &amp; Ramser, J. H. (1959), “The Truck Dispatching Problem,” Management Science, 6(1), 80–91, https://doi.org/10.1287/mnsc.6.1.80.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4d9ed87a44b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1fa7566ff47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814bbeff64f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66794fe684d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34ac5b61a4c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d1fda9bbd4f3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86bb65b1e4d5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7faf6ff3b4a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489ae1f6c40e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c450a354d48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0aa30bb9549c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DD70C0-1552-4AF9-B24C-8B9ECD7883C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3C09C3F-4591-4D80-92A2-2FF97AC8AA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830ED6-2F35-48FA-8609-68686DD521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DF846B-C71D-4FE4-B8EB-EEEBD50FF3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1346D8-57D6-433A-AC70-23ECE10481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374A07-13EE-40DC-9B05-1F1C74F55DB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AD4999-9FF6-4F9F-85DF-263F0E6A4B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1351D2-1E25-478C-8A0A-FD14F36ED2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59DD70-C23B-4F31-9731-B0EF77F92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F2EF77-CF61-4715-9783-6F120AA716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F91BAA-15DD-4F32-B04A-A865CAD0F16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444ECC-1F51-46D3-9431-9C48DE8491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52B286-DD5B-4A0E-8D56-7D864C7097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036001-9132-4CAE-B360-46B98BEA45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F7A7B1-CBEF-40A8-A1FA-713268AC06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8F2170-4138-4EA0-952B-2B1BEDD812B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A4DF46-1439-4935-85E3-D480EEB17F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F0F811-21E6-4248-B6BC-D440985D40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5B8F63-4D81-4D24-9BF8-922B4E1366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65BC69-5F20-4166-96D5-358E7589B7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71748A-99C8-423A-8115-914BF35CA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B0B61E-8A61-4B8B-BC30-8DB065B2093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1B0084-41CE-4C11-8D32-D58D79AC07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0894F56-71EC-451A-95FD-000C54CA160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EBED23B-0959-4113-8751-460E9556EF6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FCE3AFF-CA4D-494D-9652-B14360CA15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95E448-A793-468B-9453-D9094FE92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97B28D-0211-4CE9-A391-27C251F569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DF75A7-45EB-4880-A109-428DBE1E9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FBD2BC-D647-415E-A8E8-F4B1DB95425B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8C78F8-C18F-4682-A099-E9470FEBD4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3542FB-DFB9-4652-92A2-CF825072B3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FC8280-2776-4099-8B5E-B9D66A5129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0FCCDD-5F26-4846-BF8B-AD92474586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EB6037-E64C-4092-8422-5323273AA0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1DB64C-671C-4860-B755-F8BF5DFBF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6DCEC3-3CB8-4E03-93F5-5AF717C766F6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E3B193-2DED-44E8-8CB8-756E3397EC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0C8B61B-22D3-4A57-9491-FE1FAE6BF7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1F3F40-797F-474C-BBCB-51303BD30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1B6AEA9-D639-4FE7-96C0-1468D2DDD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C6FE24-9DA8-4474-8AC3-BE91749A01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B39247-4B80-400D-BD27-8FA06BDAE037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760204B-9544-4F2F-94F6-79CA858801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677100C-4230-4724-9A95-CA646A0DE0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320750-53F2-4239-A4FE-287288515C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8BE92D-4690-4D5B-A4C2-3170D93960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610FC2-527D-416F-8429-1DE677063A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319602-FFD7-41D4-9DD5-CD4B142E6CD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6C6AF60-75D1-46CE-9832-5549ABE732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F22FCD-DD62-48AA-A8E3-30E29C58A3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7866D9-70B6-4ED5-B0E0-3A51219306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EEFAB0-7D21-4238-8EDF-3663070749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A34760B-3CC5-43B9-BD77-F7A81D80177A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218CA8-E15B-4714-94BA-8D3038BE09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CDBA72-BB1B-46F4-B3D4-F2D106B4B8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DB4BC9-4BF7-4285-B009-C44150B00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A5B9ED-7101-4DF2-8AF0-D84DEF8F13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83674707d442c" /><Relationship Type="http://schemas.openxmlformats.org/officeDocument/2006/relationships/slideLayout" Target="/ppt/slideLayouts/slideLayout1.xml" Id="R298b6d919a894914" /><Relationship Type="http://schemas.openxmlformats.org/officeDocument/2006/relationships/slideLayout" Target="/ppt/slideLayouts/slideLayout2.xml" Id="R998d2a14fa1146ef" /><Relationship Type="http://schemas.openxmlformats.org/officeDocument/2006/relationships/slideLayout" Target="/ppt/slideLayouts/slideLayout3.xml" Id="R49f5243768be4f09" /><Relationship Type="http://schemas.openxmlformats.org/officeDocument/2006/relationships/slideLayout" Target="/ppt/slideLayouts/slideLayout4.xml" Id="R1b55006a88a84b5b" /><Relationship Type="http://schemas.openxmlformats.org/officeDocument/2006/relationships/slideLayout" Target="/ppt/slideLayouts/slideLayout5.xml" Id="Rc71edd4a7794499d" /><Relationship Type="http://schemas.openxmlformats.org/officeDocument/2006/relationships/slideLayout" Target="/ppt/slideLayouts/slideLayout6.xml" Id="Rfd744220355d4de8" /><Relationship Type="http://schemas.openxmlformats.org/officeDocument/2006/relationships/slideLayout" Target="/ppt/slideLayouts/slideLayout7.xml" Id="R78a6b3ecc8314e4a" /><Relationship Type="http://schemas.openxmlformats.org/officeDocument/2006/relationships/slideLayout" Target="/ppt/slideLayouts/slideLayout8.xml" Id="R19748a19f64e4ac7" /><Relationship Type="http://schemas.openxmlformats.org/officeDocument/2006/relationships/slideLayout" Target="/ppt/slideLayouts/slideLayout9.xml" Id="Re0541f2fd0814246" /><Relationship Type="http://schemas.openxmlformats.org/officeDocument/2006/relationships/slideLayout" Target="/ppt/slideLayouts/slideLayout10.xml" Id="Rec627905742d42ba" /><Relationship Type="http://schemas.openxmlformats.org/officeDocument/2006/relationships/slideLayout" Target="/ppt/slideLayouts/slideLayout11.xml" Id="R8c66f45a68a74b7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AADDAA3-3D30-4576-8905-3E3AC5069D2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5A514F-8015-4475-A4C7-1DEF745B30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6B42FD-BB27-4B0F-8B6A-EC2710DCAA2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10D0C1-C790-40F5-90D1-2F86FF42937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07A73B-0959-4D08-B2C6-88B56EE18A6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b6d919a894914"/>
    <p:sldLayoutId xmlns:r="http://schemas.openxmlformats.org/officeDocument/2006/relationships" id="2147483650" r:id="R998d2a14fa1146ef"/>
    <p:sldLayoutId xmlns:r="http://schemas.openxmlformats.org/officeDocument/2006/relationships" id="2147483651" r:id="R49f5243768be4f09"/>
    <p:sldLayoutId xmlns:r="http://schemas.openxmlformats.org/officeDocument/2006/relationships" id="2147483652" r:id="R1b55006a88a84b5b"/>
    <p:sldLayoutId xmlns:r="http://schemas.openxmlformats.org/officeDocument/2006/relationships" id="2147483653" r:id="Rc71edd4a7794499d"/>
    <p:sldLayoutId xmlns:r="http://schemas.openxmlformats.org/officeDocument/2006/relationships" id="2147483654" r:id="Rfd744220355d4de8"/>
    <p:sldLayoutId xmlns:r="http://schemas.openxmlformats.org/officeDocument/2006/relationships" id="2147483655" r:id="R78a6b3ecc8314e4a"/>
    <p:sldLayoutId xmlns:r="http://schemas.openxmlformats.org/officeDocument/2006/relationships" id="2147483656" r:id="R19748a19f64e4ac7"/>
    <p:sldLayoutId xmlns:r="http://schemas.openxmlformats.org/officeDocument/2006/relationships" id="2147483657" r:id="Re0541f2fd0814246"/>
    <p:sldLayoutId xmlns:r="http://schemas.openxmlformats.org/officeDocument/2006/relationships" id="2147483658" r:id="Rec627905742d42ba"/>
    <p:sldLayoutId xmlns:r="http://schemas.openxmlformats.org/officeDocument/2006/relationships" id="2147483659" r:id="R8c66f45a68a74b7a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82c241cfd459d" /><Relationship Type="http://schemas.openxmlformats.org/officeDocument/2006/relationships/image" Target="/ppt/media/image.png" Id="Rd38124bc71424f19" /><Relationship Type="http://schemas.openxmlformats.org/officeDocument/2006/relationships/image" Target="/ppt/media/image2.png" Id="R1d47bd28163a43a7" /><Relationship Type="http://schemas.openxmlformats.org/officeDocument/2006/relationships/notesSlide" Target="/ppt/notesSlides/notesSlide1.xml" Id="Rcbe9760019ea42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c11333b4a44de0" /><Relationship Type="http://schemas.openxmlformats.org/officeDocument/2006/relationships/image" Target="/ppt/media/image2.png" Id="R1db28e75c7884c45" /><Relationship Type="http://schemas.openxmlformats.org/officeDocument/2006/relationships/notesSlide" Target="/ppt/notesSlides/notesSlide2.xml" Id="R05d113471db9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daf6c763b34eaf" /><Relationship Type="http://schemas.openxmlformats.org/officeDocument/2006/relationships/image" Target="/ppt/media/image2.png" Id="R86112d31292240b1" /><Relationship Type="http://schemas.openxmlformats.org/officeDocument/2006/relationships/notesSlide" Target="/ppt/notesSlides/notesSlide3.xml" Id="R0809d8a5cd8f4c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3c785b28fc4b9c" /><Relationship Type="http://schemas.openxmlformats.org/officeDocument/2006/relationships/image" Target="/ppt/media/image2.png" Id="R881203277bf5473e" /><Relationship Type="http://schemas.openxmlformats.org/officeDocument/2006/relationships/notesSlide" Target="/ppt/notesSlides/notesSlide4.xml" Id="Rc6cc85b703a544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ef1a63a8e541c6" /><Relationship Type="http://schemas.openxmlformats.org/officeDocument/2006/relationships/image" Target="/ppt/media/image2.png" Id="R4044d646a449457c" /><Relationship Type="http://schemas.openxmlformats.org/officeDocument/2006/relationships/notesSlide" Target="/ppt/notesSlides/notesSlide5.xml" Id="Rd6230dad233249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d4df736d084d8d" /><Relationship Type="http://schemas.openxmlformats.org/officeDocument/2006/relationships/hyperlink" Target="https://doi.org/10.1109/CEC.2004.1330875" TargetMode="External" Id="R7523b39022be4449" /><Relationship Type="http://schemas.openxmlformats.org/officeDocument/2006/relationships/hyperlink" Target="https://doi.org/10.1287/mnsc.6.1.80" TargetMode="External" Id="R88a1020709c84107" /><Relationship Type="http://schemas.openxmlformats.org/officeDocument/2006/relationships/image" Target="/ppt/media/image2.png" Id="R60d974496bfe43d6" /><Relationship Type="http://schemas.openxmlformats.org/officeDocument/2006/relationships/notesSlide" Target="/ppt/notesSlides/notesSlide6.xml" Id="Rca197eecf5994c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8124bc71424f19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D8A65374-6768-4AD7-9157-4E10EDE448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TrafficWeave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C0DE2361-0701-4BE1-8647-A8EF58EA20C7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D8448FB-91D2-41CB-9781-5C73FA0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0" y="2000250"/>
            <a:ext cx="592455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27000" algn="l">
              <a:lnSpc>
                <a:spcPct val="102000"/>
              </a:lnSpc>
              <a:spcAft>
                <a:spcPts val="280"/>
              </a:spcAft>
              <a:buNone/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Problem Statement ID: </a:t>
            </a: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26137</a:t>
            </a:r>
          </a:p>
          <a:p xmlns:a="http://schemas.openxmlformats.org/drawingml/2006/main">
            <a:pPr marL="228600" indent="-127000" algn="l">
              <a:lnSpc>
                <a:spcPct val="102000"/>
              </a:lnSpc>
              <a:spcAft>
                <a:spcPts val="280"/>
              </a:spcAft>
              <a:buNone/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Problem Statement: </a:t>
            </a: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Quantum-Inspired Intelligent Traffic Route Optimization in Transportation Systems Using Metaheuristic Optimization</a:t>
            </a:r>
          </a:p>
          <a:p xmlns:a="http://schemas.openxmlformats.org/drawingml/2006/main">
            <a:pPr marL="228600" indent="-127000" algn="l">
              <a:lnSpc>
                <a:spcPct val="102000"/>
              </a:lnSpc>
              <a:spcAft>
                <a:spcPts val="280"/>
              </a:spcAft>
              <a:buNone/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Theme: </a:t>
            </a: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Transportation &amp; Logistics</a:t>
            </a:r>
          </a:p>
          <a:p xmlns:a="http://schemas.openxmlformats.org/drawingml/2006/main">
            <a:pPr marL="228600" indent="-127000" algn="l">
              <a:lnSpc>
                <a:spcPct val="102000"/>
              </a:lnSpc>
              <a:spcAft>
                <a:spcPts val="280"/>
              </a:spcAft>
              <a:buNone/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PS Category: </a:t>
            </a: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 marL="228600" indent="-127000" algn="l">
              <a:lnSpc>
                <a:spcPct val="102000"/>
              </a:lnSpc>
              <a:spcAft>
                <a:spcPts val="280"/>
              </a:spcAft>
              <a:buNone/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Organization: </a:t>
            </a: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Egreen Quanta</a:t>
            </a:r>
          </a:p>
          <a:p xmlns:a="http://schemas.openxmlformats.org/drawingml/2006/main">
            <a:pPr marL="228600" indent="-127000" algn="l">
              <a:lnSpc>
                <a:spcPct val="102000"/>
              </a:lnSpc>
              <a:spcAft>
                <a:spcPts val="280"/>
              </a:spcAft>
              <a:buNone/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Team ID: </a:t>
            </a: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[Add from SIH portal]</a:t>
            </a:r>
          </a:p>
          <a:p xmlns:a="http://schemas.openxmlformats.org/drawingml/2006/main">
            <a:pPr marL="228600" indent="-127000" algn="l">
              <a:lnSpc>
                <a:spcPct val="102000"/>
              </a:lnSpc>
              <a:spcAft>
                <a:spcPts val="280"/>
              </a:spcAft>
              <a:buNone/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Registered Team Name: </a:t>
            </a: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[Add from SIH portal]</a:t>
            </a: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7bd28163a43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333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9571C2-2BE2-4D2F-8302-E65FDA62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5FCFEB76-BCA6-4F5C-8556-7943BC265785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>
              <a:rPr sz="3600" b="1">
                <a:latin typeface="Times New Roman"/>
                <a:ea typeface="Times New Roman"/>
                <a:cs typeface="Times New Roman"/>
              </a:rPr>
            </a:br>
            <a:r>
              <a:rPr sz="3600" b="1">
                <a:latin typeface="Times New Roman"/>
                <a:ea typeface="Times New Roman"/>
                <a:cs typeface="Times New Roman"/>
              </a:rPr>
              <a:t>TrafficWeave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07B3A044-3CAC-4082-85E2-7C7804D5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112204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171450" tIns="38100" rIns="20955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875" b="0">
                <a:solidFill>
                  <a:srgbClr val="23364A"/>
                </a:solidFill>
                <a:latin typeface="Arial"/>
                <a:ea typeface="Arial"/>
                <a:cs typeface="Arial"/>
              </a:defRPr>
            </a:pPr>
            <a:r>
              <a:rPr sz="1875" b="0" u="sng">
                <a:solidFill>
                  <a:srgbClr val="23364A"/>
                </a:solidFill>
                <a:latin typeface="Arial"/>
                <a:ea typeface="Arial"/>
                <a:cs typeface="Arial"/>
              </a:rPr>
              <a:t>PROPOSED SOLUTION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520"/>
              </a:spcAft>
              <a:buNone/>
              <a:defRPr sz="1875" b="0">
                <a:solidFill>
                  <a:srgbClr val="23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64A"/>
                </a:solidFill>
                <a:latin typeface="Arial"/>
                <a:ea typeface="Arial"/>
                <a:cs typeface="Arial"/>
              </a:rPr>
              <a:t>Challenge: </a:t>
            </a:r>
            <a:r>
              <a:rPr sz="1875" b="0">
                <a:solidFill>
                  <a:srgbClr val="23364A"/>
                </a:solidFill>
                <a:latin typeface="Arial"/>
                <a:ea typeface="Arial"/>
                <a:cs typeface="Arial"/>
              </a:rPr>
              <a:t>Urban traffic changes, and large vehicle-routing problems are computationally hard; static routes can miss fleet-wide trade-offs.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520"/>
              </a:spcAft>
              <a:buNone/>
              <a:defRPr sz="1875" b="0">
                <a:solidFill>
                  <a:srgbClr val="23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64A"/>
                </a:solidFill>
                <a:latin typeface="Arial"/>
                <a:ea typeface="Arial"/>
                <a:cs typeface="Arial"/>
              </a:rPr>
              <a:t>Idea: </a:t>
            </a:r>
            <a:r>
              <a:rPr sz="1875" b="0">
                <a:solidFill>
                  <a:srgbClr val="23364A"/>
                </a:solidFill>
                <a:latin typeface="Arial"/>
                <a:ea typeface="Arial"/>
                <a:cs typeface="Arial"/>
              </a:rPr>
              <a:t>Model roads as a time-dependent weighted graph, then use QPSO on classical hardware to search for near-optimal vehicle routes.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520"/>
              </a:spcAft>
              <a:buNone/>
              <a:defRPr sz="1875" b="0">
                <a:solidFill>
                  <a:srgbClr val="23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64A"/>
                </a:solidFill>
                <a:latin typeface="Arial"/>
                <a:ea typeface="Arial"/>
                <a:cs typeface="Arial"/>
              </a:rPr>
              <a:t>Objective: </a:t>
            </a:r>
            <a:r>
              <a:rPr sz="1875" b="0">
                <a:solidFill>
                  <a:srgbClr val="23364A"/>
                </a:solidFill>
                <a:latin typeface="Arial"/>
                <a:ea typeface="Arial"/>
                <a:cs typeface="Arial"/>
              </a:rPr>
              <a:t>Minimize total travel time, distance and congestion while maintaining feasible routes.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0"/>
              </a:spcAft>
              <a:buNone/>
              <a:defRPr sz="1875" b="0">
                <a:solidFill>
                  <a:srgbClr val="23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64A"/>
                </a:solidFill>
                <a:latin typeface="Arial"/>
                <a:ea typeface="Arial"/>
                <a:cs typeface="Arial"/>
              </a:rPr>
              <a:t>Differentiator: </a:t>
            </a:r>
            <a:r>
              <a:rPr sz="1875" b="0">
                <a:solidFill>
                  <a:srgbClr val="23364A"/>
                </a:solidFill>
                <a:latin typeface="Arial"/>
                <a:ea typeface="Arial"/>
                <a:cs typeface="Arial"/>
              </a:rPr>
              <a:t>Pair dynamic routing with constraint handling, then test whether QPSO improves convergence and solution quality while reducing computational effort.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653FAE-A7BB-40F2-A31A-9B5492BC6E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4C59C78-1314-4735-8C9D-DD7618733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NAME</a:t>
            </a:r>
            <a:endParaRPr/>
          </a:p>
        </p:txBody>
      </p:sp>
      <p:pic>
        <p:nvPicPr>
          <p:cNvPr id="1537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28e75c7884c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156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7F7CC39-3548-4105-B527-E8E0087BAB95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E259623-B3A6-4516-A2F4-4AC68FFD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FED253-B104-4C10-87EB-173325E582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46FA708-07E2-4F39-9503-B34AAF7541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NAME</a:t>
            </a:r>
            <a:endParaRPr/>
          </a:p>
        </p:txBody>
      </p:sp>
      <p:pic>
        <p:nvPicPr>
          <p:cNvPr id="1744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12d31292240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objective-label">
            <a:extLst xmlns:a="http://schemas.openxmlformats.org/drawingml/2006/main">
              <a:ext uri="{FF2B5EF4-FFF2-40B4-BE49-F238E27FC236}">
                <a16:creationId xmlns:a16="http://schemas.microsoft.com/office/drawing/2014/main" id="{16E6B69F-9B12-462C-830A-5E3DC30C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170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708F"/>
                </a:solidFill>
                <a:latin typeface="Arial"/>
                <a:ea typeface="Arial"/>
                <a:cs typeface="Arial"/>
              </a:rPr>
              <a:t>OBJECTIVE FUNCTION</a:t>
            </a:r>
          </a:p>
        </p:txBody>
      </p:sp>
      <p:sp>
        <p:nvSpPr>
          <p:cNvPr id="17413" name="objective-equation">
            <a:extLst xmlns:a="http://schemas.openxmlformats.org/drawingml/2006/main">
              <a:ext uri="{FF2B5EF4-FFF2-40B4-BE49-F238E27FC236}">
                <a16:creationId xmlns:a16="http://schemas.microsoft.com/office/drawing/2014/main" id="{D9B2C78D-AD08-406D-8645-19B727E2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min J = wT · T + wD · D + wC · C + P</a:t>
            </a:r>
          </a:p>
        </p:txBody>
      </p:sp>
      <p:sp>
        <p:nvSpPr>
          <p:cNvPr id="17414" name="objective-key">
            <a:extLst xmlns:a="http://schemas.openxmlformats.org/drawingml/2006/main">
              <a:ext uri="{FF2B5EF4-FFF2-40B4-BE49-F238E27FC236}">
                <a16:creationId xmlns:a16="http://schemas.microsoft.com/office/drawing/2014/main" id="{FA457347-7E95-453A-9938-F1E9AA90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36579"/>
                </a:solidFill>
                <a:latin typeface="Arial"/>
                <a:ea typeface="Arial"/>
                <a:cs typeface="Arial"/>
              </a:rPr>
              <a:t>T: travel time   •   D: distance   •   C: congestion   •   P: penalties for infeasible routes</a:t>
            </a:r>
          </a:p>
        </p:txBody>
      </p:sp>
      <p:sp>
        <p:nvSpPr>
          <p:cNvPr id="17415" name="process-step-1">
            <a:extLst xmlns:a="http://schemas.openxmlformats.org/drawingml/2006/main">
              <a:ext uri="{FF2B5EF4-FFF2-40B4-BE49-F238E27FC236}">
                <a16:creationId xmlns:a16="http://schemas.microsoft.com/office/drawing/2014/main" id="{69C9EAE4-7E36-4759-84A5-F475DC9F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4003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9E9"/>
            </a:solidFill>
            <a:prstDash val="solid"/>
          </a:ln>
        </p:spPr>
      </p:sp>
      <p:sp>
        <p:nvSpPr>
          <p:cNvPr id="17416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2E6C06BA-E06D-46E3-AB1C-1274D81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rgbClr val="0070C0"/>
            </a:solidFill>
            <a:prstDash val="solid"/>
          </a:ln>
        </p:spPr>
        <p:txBody>
          <a:bodyPr xmlns:a="http://schemas.openxmlformats.org/drawingml/2006/main" anchor="ctr">
            <a:normAutofit fontScale="591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417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962D30FA-262B-44BB-B38E-9DDDC5A7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Build the graph</a:t>
            </a:r>
          </a:p>
        </p:txBody>
      </p:sp>
      <p:sp>
        <p:nvSpPr>
          <p:cNvPr id="17418" name="process-description-1">
            <a:extLst xmlns:a="http://schemas.openxmlformats.org/drawingml/2006/main">
              <a:ext uri="{FF2B5EF4-FFF2-40B4-BE49-F238E27FC236}">
                <a16:creationId xmlns:a16="http://schemas.microsoft.com/office/drawing/2014/main" id="{53816D1E-3D60-4C92-9289-672DACA7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057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2F435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F4359"/>
                </a:solidFill>
                <a:latin typeface="Arial"/>
                <a:ea typeface="Arial"/>
                <a:cs typeface="Arial"/>
              </a:rPr>
              <a:t>Weighted road links use distance and changing traffic costs. Shortest paths form route legs.</a:t>
            </a:r>
          </a:p>
        </p:txBody>
      </p:sp>
      <p:sp>
        <p:nvSpPr>
          <p:cNvPr id="17419" name="process-step-2">
            <a:extLst xmlns:a="http://schemas.openxmlformats.org/drawingml/2006/main">
              <a:ext uri="{FF2B5EF4-FFF2-40B4-BE49-F238E27FC236}">
                <a16:creationId xmlns:a16="http://schemas.microsoft.com/office/drawing/2014/main" id="{8D542657-4A2E-423E-8B65-C2B69958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24003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9E9"/>
            </a:solidFill>
            <a:prstDash val="solid"/>
          </a:ln>
        </p:spPr>
      </p:sp>
      <p:sp>
        <p:nvSpPr>
          <p:cNvPr id="17420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B3FDEB03-81DB-4AD4-8B05-2E82277D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rgbClr val="0070C0"/>
            </a:solidFill>
            <a:prstDash val="solid"/>
          </a:ln>
        </p:spPr>
        <p:txBody>
          <a:bodyPr xmlns:a="http://schemas.openxmlformats.org/drawingml/2006/main" anchor="ctr">
            <a:normAutofit fontScale="591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421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73D43FE3-7E74-4C25-B576-04186539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241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38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Search with QPSO</a:t>
            </a:r>
          </a:p>
        </p:txBody>
      </p:sp>
      <p:sp>
        <p:nvSpPr>
          <p:cNvPr id="17422" name="process-description-2">
            <a:extLst xmlns:a="http://schemas.openxmlformats.org/drawingml/2006/main">
              <a:ext uri="{FF2B5EF4-FFF2-40B4-BE49-F238E27FC236}">
                <a16:creationId xmlns:a16="http://schemas.microsoft.com/office/drawing/2014/main" id="{C4F174CA-73D8-48F9-9CFF-8BA3B68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2057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2F435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F4359"/>
                </a:solidFill>
                <a:latin typeface="Arial"/>
                <a:ea typeface="Arial"/>
                <a:cs typeface="Arial"/>
              </a:rPr>
              <a:t>Quantum-inspired swarm updates explore and refine candidate fleet routes on classical computers.</a:t>
            </a:r>
          </a:p>
        </p:txBody>
      </p:sp>
      <p:sp>
        <p:nvSpPr>
          <p:cNvPr id="17423" name="process-step-3">
            <a:extLst xmlns:a="http://schemas.openxmlformats.org/drawingml/2006/main">
              <a:ext uri="{FF2B5EF4-FFF2-40B4-BE49-F238E27FC236}">
                <a16:creationId xmlns:a16="http://schemas.microsoft.com/office/drawing/2014/main" id="{9DB4F089-6965-4250-AFAD-6BDD244B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24003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9E9"/>
            </a:solidFill>
            <a:prstDash val="solid"/>
          </a:ln>
        </p:spPr>
      </p:sp>
      <p:sp>
        <p:nvSpPr>
          <p:cNvPr id="17424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3BEFA8FF-6EB1-4144-A7D2-1850142F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rgbClr val="0070C0"/>
            </a:solidFill>
            <a:prstDash val="solid"/>
          </a:ln>
        </p:spPr>
        <p:txBody>
          <a:bodyPr xmlns:a="http://schemas.openxmlformats.org/drawingml/2006/main" anchor="ctr">
            <a:normAutofit fontScale="591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425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D91A3E7C-8DE6-4114-A71D-F7590B1D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241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Check feasibility</a:t>
            </a:r>
          </a:p>
        </p:txBody>
      </p:sp>
      <p:sp>
        <p:nvSpPr>
          <p:cNvPr id="17426" name="process-description-3">
            <a:extLst xmlns:a="http://schemas.openxmlformats.org/drawingml/2006/main">
              <a:ext uri="{FF2B5EF4-FFF2-40B4-BE49-F238E27FC236}">
                <a16:creationId xmlns:a16="http://schemas.microsoft.com/office/drawing/2014/main" id="{DCB9C16E-7206-4D9C-BE5E-93026C22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2057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2F435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F4359"/>
                </a:solidFill>
                <a:latin typeface="Arial"/>
                <a:ea typeface="Arial"/>
                <a:cs typeface="Arial"/>
              </a:rPr>
              <a:t>Validate customer coverage, vehicle capacity and delivery constraints before scoring.</a:t>
            </a:r>
          </a:p>
        </p:txBody>
      </p:sp>
      <p:sp>
        <p:nvSpPr>
          <p:cNvPr id="17427" name="process-step-4">
            <a:extLst xmlns:a="http://schemas.openxmlformats.org/drawingml/2006/main">
              <a:ext uri="{FF2B5EF4-FFF2-40B4-BE49-F238E27FC236}">
                <a16:creationId xmlns:a16="http://schemas.microsoft.com/office/drawing/2014/main" id="{0D42135F-8753-4253-A12D-2CFF23AE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4003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9E9"/>
            </a:solidFill>
            <a:prstDash val="solid"/>
          </a:ln>
        </p:spPr>
      </p:sp>
      <p:sp>
        <p:nvSpPr>
          <p:cNvPr id="17428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6FB53BD3-6645-4622-8604-C970C377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solidFill>
              <a:srgbClr val="0070C0"/>
            </a:solidFill>
            <a:prstDash val="solid"/>
          </a:ln>
        </p:spPr>
        <p:txBody>
          <a:bodyPr xmlns:a="http://schemas.openxmlformats.org/drawingml/2006/main" anchor="ctr">
            <a:normAutofit fontScale="5910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29" name="process-title-4">
            <a:extLst xmlns:a="http://schemas.openxmlformats.org/drawingml/2006/main">
              <a:ext uri="{FF2B5EF4-FFF2-40B4-BE49-F238E27FC236}">
                <a16:creationId xmlns:a16="http://schemas.microsoft.com/office/drawing/2014/main" id="{3FE4E02F-95D7-4D91-9C40-61D713CA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2412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Benchmark results</a:t>
            </a:r>
          </a:p>
        </p:txBody>
      </p:sp>
      <p:sp>
        <p:nvSpPr>
          <p:cNvPr id="17430" name="process-description-4">
            <a:extLst xmlns:a="http://schemas.openxmlformats.org/drawingml/2006/main">
              <a:ext uri="{FF2B5EF4-FFF2-40B4-BE49-F238E27FC236}">
                <a16:creationId xmlns:a16="http://schemas.microsoft.com/office/drawing/2014/main" id="{C90A7D98-2A6D-45AF-9514-4AD622F6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057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>
                <a:solidFill>
                  <a:srgbClr val="2F4359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F4359"/>
                </a:solidFill>
                <a:latin typeface="Arial"/>
                <a:ea typeface="Arial"/>
                <a:cs typeface="Arial"/>
              </a:rPr>
              <a:t>Compare cost, convergence and runtime with PSO, GA and SA; use exact B&amp;B on small cases.</a:t>
            </a:r>
          </a:p>
        </p:txBody>
      </p:sp>
      <p:sp>
        <p:nvSpPr>
          <p:cNvPr id="17431" name="process-arrow-314">
            <a:extLst xmlns:a="http://schemas.openxmlformats.org/drawingml/2006/main">
              <a:ext uri="{FF2B5EF4-FFF2-40B4-BE49-F238E27FC236}">
                <a16:creationId xmlns:a16="http://schemas.microsoft.com/office/drawing/2014/main" id="{07F058CD-A368-4C46-992D-6BA1B698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0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2" name="process-arrow-610">
            <a:extLst xmlns:a="http://schemas.openxmlformats.org/drawingml/2006/main">
              <a:ext uri="{FF2B5EF4-FFF2-40B4-BE49-F238E27FC236}">
                <a16:creationId xmlns:a16="http://schemas.microsoft.com/office/drawing/2014/main" id="{28C8468C-FE53-4B38-A6B9-EAA0E345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3" name="process-arrow-906">
            <a:extLst xmlns:a="http://schemas.openxmlformats.org/drawingml/2006/main">
              <a:ext uri="{FF2B5EF4-FFF2-40B4-BE49-F238E27FC236}">
                <a16:creationId xmlns:a16="http://schemas.microsoft.com/office/drawing/2014/main" id="{81E6B901-6507-4172-AAB1-EFFCC07B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0375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4" name="implementation-stack">
            <a:extLst xmlns:a="http://schemas.openxmlformats.org/drawingml/2006/main">
              <a:ext uri="{FF2B5EF4-FFF2-40B4-BE49-F238E27FC236}">
                <a16:creationId xmlns:a16="http://schemas.microsoft.com/office/drawing/2014/main" id="{4A6C777E-A4D3-43A5-9612-AAAF296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PROTOTYPE  TypeScript · React · Leaflet / OpenStreetMap · interactive route and convergence views</a:t>
            </a:r>
          </a:p>
        </p:txBody>
      </p:sp>
      <p:sp>
        <p:nvSpPr>
          <p:cNvPr id="17435" name="evaluation-summary">
            <a:extLst xmlns:a="http://schemas.openxmlformats.org/drawingml/2006/main">
              <a:ext uri="{FF2B5EF4-FFF2-40B4-BE49-F238E27FC236}">
                <a16:creationId xmlns:a16="http://schemas.microsoft.com/office/drawing/2014/main" id="{33D1AF48-2B38-4C7F-B590-DF625699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36579"/>
                </a:solidFill>
                <a:latin typeface="Arial"/>
                <a:ea typeface="Arial"/>
                <a:cs typeface="Arial"/>
              </a:rPr>
              <a:t>Evaluation tracks route quality, convergence behavior and runtime as network size grows.</a:t>
            </a:r>
          </a:p>
        </p:txBody>
      </p:sp>
    </p:spTree>
    <p:extLst>
      <p:ext uri="{BB962C8B-B14F-4D97-AF65-F5344CB8AC3E}">
        <p14:creationId xmlns:p14="http://schemas.microsoft.com/office/powerpoint/2010/main" val="12177619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621F027-4143-4E35-ADE0-50CB329DD953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&amp;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1DAE5FAD-FE33-425D-88B1-3360990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19050" rIns="1143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FEASIBILITY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700"/>
              </a:spcAft>
              <a:buNone/>
              <a:defRPr sz="165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QPSO is a classical software method inspired by quantum concepts; the prototype needs no quantum computer.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700"/>
              </a:spcAft>
              <a:buNone/>
              <a:defRPr sz="165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Simulated traffic supports repeatable experiments while edge costs change over time.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0"/>
              </a:spcAft>
              <a:buNone/>
              <a:defRPr sz="165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Start with small graph instances and increase network size in measured stages.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AF3E86-D92F-4BA1-BFDA-48B8D3A87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739E4CD-19EA-4023-B065-088F785B78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NAME</a:t>
            </a:r>
            <a:endParaRPr/>
          </a:p>
        </p:txBody>
      </p:sp>
      <p:pic>
        <p:nvPicPr>
          <p:cNvPr id="1742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203277bf547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feasibility-divider">
            <a:extLst xmlns:a="http://schemas.openxmlformats.org/drawingml/2006/main">
              <a:ext uri="{FF2B5EF4-FFF2-40B4-BE49-F238E27FC236}">
                <a16:creationId xmlns:a16="http://schemas.microsoft.com/office/drawing/2014/main" id="{EE418577-C148-4594-AB01-F15BD838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1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13" name="risk-controls">
            <a:extLst xmlns:a="http://schemas.openxmlformats.org/drawingml/2006/main">
              <a:ext uri="{FF2B5EF4-FFF2-40B4-BE49-F238E27FC236}">
                <a16:creationId xmlns:a16="http://schemas.microsoft.com/office/drawing/2014/main" id="{B5873698-849B-473C-A22D-44B65868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000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165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497D"/>
                </a:solidFill>
              </a:rPr>
              <a:t>RISKS &amp; CONTROLS</a:t>
            </a:r>
          </a:p>
          <a:p xmlns:a="http://schemas.openxmlformats.org/drawingml/2006/main">
            <a:pPr marL="228600" indent="-127000" algn="l">
              <a:spcAft>
                <a:spcPts val="700"/>
              </a:spcAft>
              <a:buChar char="•"/>
              <a:defRPr sz="165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b="1"/>
              <a:t>Traffic-data gaps: </a:t>
            </a:r>
            <a:r>
              <a:t>document assumptions and test controlled scenarios.</a:t>
            </a:r>
          </a:p>
          <a:p xmlns:a="http://schemas.openxmlformats.org/drawingml/2006/main">
            <a:pPr marL="228600" indent="-127000" algn="l">
              <a:spcAft>
                <a:spcPts val="700"/>
              </a:spcAft>
              <a:buChar char="•"/>
              <a:defRPr sz="165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b="1"/>
              <a:t>Search variation: </a:t>
            </a:r>
            <a:r>
              <a:t>repeat runs and report outcome ranges, convergence and runtime.</a:t>
            </a:r>
          </a:p>
          <a:p xmlns:a="http://schemas.openxmlformats.org/drawingml/2006/main">
            <a:pPr marL="228600" indent="-127000" algn="l">
              <a:spcAft>
                <a:spcPts val="0"/>
              </a:spcAft>
              <a:buChar char="•"/>
              <a:defRPr sz="165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b="1"/>
              <a:t>Scale: </a:t>
            </a:r>
            <a:r>
              <a:t>compare exact solutions on small cases, then track quality and runtime as graphs grow.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62BA447-E11D-4E74-9CB8-2F22EDE3384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718FE739-E482-4245-BF0B-8E32EC5F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76200" tIns="19050" rIns="2095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820"/>
              </a:spcAft>
              <a:buNone/>
              <a:defRPr sz="1875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Target users: </a:t>
            </a:r>
            <a:r>
              <a:rPr sz="1875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city logistics teams, delivery fleets and urban mobility planners.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820"/>
              </a:spcAft>
              <a:buNone/>
              <a:defRPr sz="1875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Operational aim: </a:t>
            </a:r>
            <a:r>
              <a:rPr sz="1875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adapt vehicle routes as traffic conditions change, minimizing total travel time, distance and congestion.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820"/>
              </a:spcAft>
              <a:buNone/>
              <a:defRPr sz="1875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Economic potential: </a:t>
            </a:r>
            <a:r>
              <a:rPr sz="1875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better route plans may reduce avoidable mileage and operating cost; quantify this through benchmark results.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0"/>
              </a:spcAft>
              <a:buNone/>
              <a:defRPr sz="1875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Wider value: </a:t>
            </a:r>
            <a:r>
              <a:rPr sz="1875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support scalable experiments for smart-city logistics and intelligent transportation systems.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670525-926D-42CA-87D6-611A45FFBB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39FA28B-10AD-4964-ACF1-71283775F3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NAME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4d646a44945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C288128-5164-49AC-9E62-CA7655DC08A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86291C07-F5FA-4636-8F46-111C456E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53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38100" tIns="19050" rIns="190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50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QPSO foundation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1100"/>
              </a:spcAft>
              <a:buNone/>
              <a:defRPr sz="150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Sun, J., Feng, B. &amp; Xu, W. (2004). “Particle swarm optimization with particles having quantum behavior.” Proceedings of CEC 2004, pp. 325–331. </a:t>
            </a:r>
            <a:r>
              <a:rPr sz="1500" b="0" u="sng">
                <a:solidFill>
                  <a:srgbClr val="25384D"/>
                </a:solidFill>
                <a:latin typeface="Arial"/>
                <a:ea typeface="Arial"/>
                <a:cs typeface="Arial"/>
                <a:hlinkClick xmlns:r="http://schemas.openxmlformats.org/officeDocument/2006/relationships" r:id="R7523b39022be4449"/>
              </a:rPr>
              <a:t>doi.org/10.1109/CEC.2004.1330875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50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Vehicle-routing foundation</a:t>
            </a:r>
          </a:p>
          <a:p xmlns:a="http://schemas.openxmlformats.org/drawingml/2006/main">
            <a:pPr marL="228600" indent="-127000" algn="l">
              <a:lnSpc>
                <a:spcPct val="100000"/>
              </a:lnSpc>
              <a:spcAft>
                <a:spcPts val="1100"/>
              </a:spcAft>
              <a:buNone/>
              <a:defRPr sz="150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Dantzig, G. B. &amp; Ramser, J. H. (1959). “The Truck Dispatching Problem.” Management Science, 6(1), pp. 80–91. </a:t>
            </a:r>
            <a:r>
              <a:rPr sz="1500" b="0" u="sng">
                <a:solidFill>
                  <a:srgbClr val="25384D"/>
                </a:solidFill>
                <a:latin typeface="Arial"/>
                <a:ea typeface="Arial"/>
                <a:cs typeface="Arial"/>
                <a:hlinkClick xmlns:r="http://schemas.openxmlformats.org/officeDocument/2006/relationships" r:id="R88a1020709c84107"/>
              </a:rPr>
              <a:t>doi.org/10.1287/mnsc.6.1.80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500" b="0">
                <a:solidFill>
                  <a:srgbClr val="2538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Evaluation plan: </a:t>
            </a:r>
            <a:r>
              <a:rPr sz="1500" b="0">
                <a:solidFill>
                  <a:srgbClr val="25384D"/>
                </a:solidFill>
                <a:latin typeface="Arial"/>
                <a:ea typeface="Arial"/>
                <a:cs typeface="Arial"/>
              </a:rPr>
              <a:t>compare methods on matched graph instances and report solution quality, convergence and runtime.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DE51DA-2119-45A4-AB44-AA79CBD639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25DECFE-0FEA-4D4C-BF3B-C8F71F8CBA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1275" b="1">
                <a:solidFill>
                  <a:srgbClr val="1F497D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97D"/>
                </a:solidFill>
                <a:latin typeface="Calibri"/>
                <a:ea typeface="Calibri"/>
                <a:cs typeface="Calibri"/>
              </a:rPr>
              <a:t>NAME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974496bfe43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2026-09-28T15:58:50.5670000Z</dcterms:created>
  <dcterms:modified xsi:type="dcterms:W3CDTF">2026-09-28T15:58:50.5670000Z</dcterms:modified>
</coreProperties>
</file>